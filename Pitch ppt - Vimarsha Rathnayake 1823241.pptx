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20977-267A-4929-9264-037F79055492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0A2F2-CBAC-4293-BDD0-0167D2982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33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0A2F2-CBAC-4293-BDD0-0167D2982C0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840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0A2F2-CBAC-4293-BDD0-0167D2982C0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7469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59A4-5932-5F11-5B77-79ACDFF01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1FF92-3B12-D9B8-561E-E41BDA895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BE6C4-400F-5AAB-F872-A737FC6B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C0F49-B60B-D3BD-2FE2-6E2F148A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8CEF2-6A63-649E-F7C5-608D4606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69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9CFB-8F3D-957C-93E0-6F0DF7EB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91C7-391C-EAD9-6018-CE399B993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48FD9-4CA4-91AD-3731-F321060A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2746D-CC68-F8AC-775E-5E445047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7ADE-9436-9EC0-6374-0368B513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775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030A-0C70-07F1-5E8E-1A73A54A4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71235-3391-34E1-E2BB-ED085681B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3E109-3E2F-6607-8258-50856796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169D-C446-9B11-46A7-606597A6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A2A0-29D0-3EDD-2C24-94890B22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84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5FA8-4F12-EE4C-F8EF-B3FA0C29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AC9C0-B73C-94A2-2F0B-2EB2705C0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15C42-5C4C-A106-C925-CBD77E963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C2394-6F73-CE63-A010-511DC46D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0C553-18AC-D299-B8B7-1034C2E7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84F10-88B2-9449-4811-F9FAAF0D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50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6036-2279-863E-59D7-A2118114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89079-3C79-2309-4824-C1DC8860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B5A07-3819-9F57-2205-76A638C9D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1AF33-34CE-8F63-6B30-8D7E39652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5F49-F282-33B8-CB01-1ABFB2FEF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A5B5F-4FB8-59E9-91F3-CEE22F13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1A08C-B366-26D2-98CD-282F430A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BFB8C6-24CE-2474-8874-0E2E8DE9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48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412F-6D33-6FD4-FF26-9DCF34C2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A49DE-B7E2-9B12-769C-858ADFE6E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07817-CE56-5E5E-99F9-C970B1E3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7FCF3-87D9-7FC9-C766-30E17C74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807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91029-FB4C-991F-F707-198CA61C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6DCA38-1257-9FF8-9BCB-ACE7864CE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A3ED6-1993-568E-95B3-82A9A4AB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192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7464-3CD0-27B4-92DB-ADDF4A1F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47F11-FDD5-66A1-E810-CE4FDD49E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F68EF-7E78-C825-D666-73928D9E9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150A8-7A7C-4F35-EC5F-553D61D1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E6359-735F-C6F3-78A0-FE70BF55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E58CB-4F5A-A4DC-9534-893744D9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83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AF10-3C5B-535F-C741-42F5DEE8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AB5A6-5167-2009-2855-1F9C1B9AE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9C7B1-F1CE-664F-AE93-A217EDF66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4BB03-5BBF-4DAE-A99C-206C58427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273BF-77AC-AFD4-03B5-F4DEFFD11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4D8A7-82A7-C1EE-C484-158F1DFB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83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036A-9792-6B1D-087F-BFD1C7C8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D95BE-B45F-4557-D09F-0EDEB8746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5ECC5-625B-0B93-E9B2-64CA44C8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6A4CE-6E13-AD24-FB08-06328508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A8DB4-BC9A-84F4-1FA4-2234D09C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910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6C882F-47BD-8B7B-2B41-5D43FF8AF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1C9F4-B2B0-FC99-41C3-8A4935379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C16E0-E676-BCCF-96C0-E5BCFDB6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5FA0F-6185-75AE-6779-94F48E4E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835F8-2276-F6FB-D22B-7C3E45DB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126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78340-DFE9-D2F5-B75D-FBC4C332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05E7-D3ED-3C3D-1EDE-5B344DC13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823E6-3410-3074-4FDD-63736D6AA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D33F5-57B2-4F7B-874E-5C736E6E026F}" type="datetimeFigureOut">
              <a:rPr lang="en-AU" smtClean="0"/>
              <a:t>30/09/2025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E8815-64FF-76CC-86EE-B8E8D7982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CF4EA-8F6A-4879-CF1A-C7AFE369E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D98B0-1F7B-452D-87F5-0252B0554B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140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Rectangle 2107">
            <a:extLst>
              <a:ext uri="{FF2B5EF4-FFF2-40B4-BE49-F238E27FC236}">
                <a16:creationId xmlns:a16="http://schemas.microsoft.com/office/drawing/2014/main" id="{75CC5FF6-C911-4883-B5F7-F5F3E29A8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0" name="Rectangle 2109">
            <a:extLst>
              <a:ext uri="{FF2B5EF4-FFF2-40B4-BE49-F238E27FC236}">
                <a16:creationId xmlns:a16="http://schemas.microsoft.com/office/drawing/2014/main" id="{84E2200F-ED39-40A1-A6F7-65A45ED6D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12" name="Group 2111">
            <a:extLst>
              <a:ext uri="{FF2B5EF4-FFF2-40B4-BE49-F238E27FC236}">
                <a16:creationId xmlns:a16="http://schemas.microsoft.com/office/drawing/2014/main" id="{A4DC59FE-95C7-4792-8613-8387631B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13" name="Oval 2112">
              <a:extLst>
                <a:ext uri="{FF2B5EF4-FFF2-40B4-BE49-F238E27FC236}">
                  <a16:creationId xmlns:a16="http://schemas.microsoft.com/office/drawing/2014/main" id="{185A6740-C8AC-4AF4-8DED-DF2AE7C5C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4" name="Oval 2113">
              <a:extLst>
                <a:ext uri="{FF2B5EF4-FFF2-40B4-BE49-F238E27FC236}">
                  <a16:creationId xmlns:a16="http://schemas.microsoft.com/office/drawing/2014/main" id="{B0287ED7-11F5-4988-9536-ED300C63D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5" name="Oval 2114">
              <a:extLst>
                <a:ext uri="{FF2B5EF4-FFF2-40B4-BE49-F238E27FC236}">
                  <a16:creationId xmlns:a16="http://schemas.microsoft.com/office/drawing/2014/main" id="{6F435B82-54F0-40A8-98AC-308BBE400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6" name="Oval 2115">
              <a:extLst>
                <a:ext uri="{FF2B5EF4-FFF2-40B4-BE49-F238E27FC236}">
                  <a16:creationId xmlns:a16="http://schemas.microsoft.com/office/drawing/2014/main" id="{63E91545-5C3B-46A8-84FE-3866AC17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7" name="Oval 2116">
              <a:extLst>
                <a:ext uri="{FF2B5EF4-FFF2-40B4-BE49-F238E27FC236}">
                  <a16:creationId xmlns:a16="http://schemas.microsoft.com/office/drawing/2014/main" id="{8E118785-E32F-4098-BA19-715FB4D32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8" name="Oval 2117">
              <a:extLst>
                <a:ext uri="{FF2B5EF4-FFF2-40B4-BE49-F238E27FC236}">
                  <a16:creationId xmlns:a16="http://schemas.microsoft.com/office/drawing/2014/main" id="{218661B7-47E9-4CFA-9D23-D94826CD7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0DB568-7EB7-CA14-4C21-582BFEB59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630936"/>
            <a:ext cx="5895058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Which city is Australia’s next property hotspot ?</a:t>
            </a:r>
          </a:p>
        </p:txBody>
      </p:sp>
      <p:sp>
        <p:nvSpPr>
          <p:cNvPr id="2120" name="Rectangle 2119">
            <a:extLst>
              <a:ext uri="{FF2B5EF4-FFF2-40B4-BE49-F238E27FC236}">
                <a16:creationId xmlns:a16="http://schemas.microsoft.com/office/drawing/2014/main" id="{B163B796-84D7-4069-93D0-7A496A03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22" name="Group 2121">
            <a:extLst>
              <a:ext uri="{FF2B5EF4-FFF2-40B4-BE49-F238E27FC236}">
                <a16:creationId xmlns:a16="http://schemas.microsoft.com/office/drawing/2014/main" id="{87A77F8F-E829-4314-9F44-36169F75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E8D18253-A2A5-4168-A077-5A4A9C532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6DAC9C54-D328-4591-AE19-1C4E335C7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A74A6996-7D92-4A5D-B88C-3B3E56C69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D0F18B95-9F0D-423C-9242-0FBEC7276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8" name="Rectangle 2127">
            <a:extLst>
              <a:ext uri="{FF2B5EF4-FFF2-40B4-BE49-F238E27FC236}">
                <a16:creationId xmlns:a16="http://schemas.microsoft.com/office/drawing/2014/main" id="{A4AE5E3E-9489-4D5A-A458-72C3E481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0" name="Group 2129">
            <a:extLst>
              <a:ext uri="{FF2B5EF4-FFF2-40B4-BE49-F238E27FC236}">
                <a16:creationId xmlns:a16="http://schemas.microsoft.com/office/drawing/2014/main" id="{0E88FC08-D56F-45D4-AC54-B89F6469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DA9CDF2D-7A78-4571-B1C1-857192D4A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2E46C3A6-A8E2-4FBB-B6F8-FBEA0D905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BD35E17C-3C3F-401E-875C-1BA82BBA5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88C01EF9-F43C-4B12-BBF9-A20421C75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Content Placeholder 7" descr="A map of australia with white text&#10;&#10;AI-generated content may be incorrect.">
            <a:extLst>
              <a:ext uri="{FF2B5EF4-FFF2-40B4-BE49-F238E27FC236}">
                <a16:creationId xmlns:a16="http://schemas.microsoft.com/office/drawing/2014/main" id="{507B6266-62FD-B718-1DFB-2F9397DD9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r="2695" b="4"/>
          <a:stretch>
            <a:fillRect/>
          </a:stretch>
        </p:blipFill>
        <p:spPr>
          <a:xfrm>
            <a:off x="6795973" y="969893"/>
            <a:ext cx="4684777" cy="4684777"/>
          </a:xfrm>
          <a:prstGeom prst="rect">
            <a:avLst/>
          </a:prstGeom>
        </p:spPr>
      </p:pic>
      <p:grpSp>
        <p:nvGrpSpPr>
          <p:cNvPr id="2136" name="Group 2135">
            <a:extLst>
              <a:ext uri="{FF2B5EF4-FFF2-40B4-BE49-F238E27FC236}">
                <a16:creationId xmlns:a16="http://schemas.microsoft.com/office/drawing/2014/main" id="{B138BDDD-D054-4F0A-BB1F-9D016848D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3CB9B538-BCFF-41C2-87A8-28853C399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DD34C8C8-72AB-40F5-87DE-E7AE196F7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9DA1E9C3-A70A-49DD-AD8F-5E768B24F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BC92A81C-B9D6-4A1C-BE78-377104DBE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3B52EF7-1468-2565-2620-698E8C53775C}"/>
              </a:ext>
            </a:extLst>
          </p:cNvPr>
          <p:cNvSpPr txBox="1"/>
          <p:nvPr/>
        </p:nvSpPr>
        <p:spPr>
          <a:xfrm>
            <a:off x="8811751" y="1765154"/>
            <a:ext cx="106024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800" dirty="0">
                <a:solidFill>
                  <a:srgbClr val="FF0000"/>
                </a:solidFill>
                <a:latin typeface="Amasis MT Pro Black" panose="02040A04050005020304" pitchFamily="18" charset="0"/>
              </a:rPr>
              <a:t>?</a:t>
            </a:r>
            <a:endParaRPr lang="en-AU" sz="13800" dirty="0">
              <a:solidFill>
                <a:srgbClr val="FF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0AB0F-473E-25F2-86D8-E1D78AD652BB}"/>
              </a:ext>
            </a:extLst>
          </p:cNvPr>
          <p:cNvSpPr txBox="1"/>
          <p:nvPr/>
        </p:nvSpPr>
        <p:spPr>
          <a:xfrm>
            <a:off x="692803" y="3977186"/>
            <a:ext cx="46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Migration at record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Supply of housing is limited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Affordability of properties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Uncertainty about property prices</a:t>
            </a:r>
          </a:p>
        </p:txBody>
      </p:sp>
    </p:spTree>
    <p:extLst>
      <p:ext uri="{BB962C8B-B14F-4D97-AF65-F5344CB8AC3E}">
        <p14:creationId xmlns:p14="http://schemas.microsoft.com/office/powerpoint/2010/main" val="305684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5CC5FF6-C911-4883-B5F7-F5F3E29A8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E2200F-ED39-40A1-A6F7-65A45ED6D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DC59FE-95C7-4792-8613-8387631B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85A6740-C8AC-4AF4-8DED-DF2AE7C5C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0287ED7-11F5-4988-9536-ED300C63D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F435B82-54F0-40A8-98AC-308BBE400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3E91545-5C3B-46A8-84FE-3866AC17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18785-E32F-4098-BA19-715FB4D32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18661B7-47E9-4CFA-9D23-D94826CD7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3DEB97-CC87-A5C3-3D7E-94BEC7F3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955" y="185174"/>
            <a:ext cx="8015417" cy="1381381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Forecasting model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63B796-84D7-4069-93D0-7A496A03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7A77F8F-E829-4314-9F44-36169F75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8D18253-A2A5-4168-A077-5A4A9C532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AC9C54-D328-4591-AE19-1C4E335C7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74A6996-7D92-4A5D-B88C-3B3E56C69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0F18B95-9F0D-423C-9242-0FBEC7276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4AE5E3E-9489-4D5A-A458-72C3E481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E88FC08-D56F-45D4-AC54-B89F6469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A9CDF2D-7A78-4571-B1C1-857192D4A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E46C3A6-A8E2-4FBB-B6F8-FBEA0D905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D35E17C-3C3F-401E-875C-1BA82BBA5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8C01EF9-F43C-4B12-BBF9-A20421C75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138BDDD-D054-4F0A-BB1F-9D016848D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CB9B538-BCFF-41C2-87A8-28853C399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D34C8C8-72AB-40F5-87DE-E7AE196F7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DA1E9C3-A70A-49DD-AD8F-5E768B24F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C92A81C-B9D6-4A1C-BE78-377104DBE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5817620-4C00-9BD8-AC42-33197095F926}"/>
              </a:ext>
            </a:extLst>
          </p:cNvPr>
          <p:cNvSpPr txBox="1"/>
          <p:nvPr/>
        </p:nvSpPr>
        <p:spPr>
          <a:xfrm>
            <a:off x="473955" y="4778879"/>
            <a:ext cx="85854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ARIMA captures city level property price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Random Forest spot hidden patterns like inflations’ effect on house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Smarter, sharper, reliable model </a:t>
            </a:r>
            <a:endParaRPr lang="en-AU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231ED6-DB77-BC69-A01D-17C7CE6D914E}"/>
              </a:ext>
            </a:extLst>
          </p:cNvPr>
          <p:cNvGrpSpPr/>
          <p:nvPr/>
        </p:nvGrpSpPr>
        <p:grpSpPr>
          <a:xfrm>
            <a:off x="2836718" y="1943100"/>
            <a:ext cx="7315938" cy="2261022"/>
            <a:chOff x="2836718" y="1943100"/>
            <a:chExt cx="7315938" cy="22610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E706A28-18BF-AFFC-470A-B16A5E25CC8B}"/>
                </a:ext>
              </a:extLst>
            </p:cNvPr>
            <p:cNvGrpSpPr/>
            <p:nvPr/>
          </p:nvGrpSpPr>
          <p:grpSpPr>
            <a:xfrm>
              <a:off x="2984723" y="2080776"/>
              <a:ext cx="7134563" cy="2106057"/>
              <a:chOff x="629641" y="2422651"/>
              <a:chExt cx="7237489" cy="615339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E4E886-A48F-F5F2-3A6B-E61F5618FDAC}"/>
                  </a:ext>
                </a:extLst>
              </p:cNvPr>
              <p:cNvSpPr txBox="1"/>
              <p:nvPr/>
            </p:nvSpPr>
            <p:spPr>
              <a:xfrm>
                <a:off x="629641" y="2438884"/>
                <a:ext cx="1339877" cy="58986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3200" b="1" dirty="0">
                    <a:solidFill>
                      <a:schemeClr val="bg1"/>
                    </a:solidFill>
                  </a:rPr>
                  <a:t>DATA   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4DDFF1-BBCF-2892-C269-071594DEE491}"/>
                  </a:ext>
                </a:extLst>
              </p:cNvPr>
              <p:cNvSpPr txBox="1"/>
              <p:nvPr/>
            </p:nvSpPr>
            <p:spPr>
              <a:xfrm>
                <a:off x="2606757" y="2448126"/>
                <a:ext cx="2230581" cy="58986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3200" b="1" dirty="0">
                    <a:solidFill>
                      <a:schemeClr val="bg1"/>
                    </a:solidFill>
                  </a:rPr>
                  <a:t>ARIMA</a:t>
                </a:r>
              </a:p>
              <a:p>
                <a:pPr algn="ctr"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3200" b="1" dirty="0">
                    <a:solidFill>
                      <a:schemeClr val="bg1"/>
                    </a:solidFill>
                  </a:rPr>
                  <a:t>+</a:t>
                </a:r>
              </a:p>
              <a:p>
                <a:pPr algn="ctr"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3200" b="1" dirty="0">
                    <a:solidFill>
                      <a:schemeClr val="bg1"/>
                    </a:solidFill>
                  </a:rPr>
                  <a:t>RANDOM FOREST 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4964FB-BB38-669A-0390-38248228B5B8}"/>
                  </a:ext>
                </a:extLst>
              </p:cNvPr>
              <p:cNvSpPr txBox="1"/>
              <p:nvPr/>
            </p:nvSpPr>
            <p:spPr>
              <a:xfrm>
                <a:off x="5661207" y="2438092"/>
                <a:ext cx="2205923" cy="58986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3200" b="1" dirty="0">
                    <a:solidFill>
                      <a:schemeClr val="bg1"/>
                    </a:solidFill>
                  </a:rPr>
                  <a:t>FORECAST </a:t>
                </a:r>
              </a:p>
            </p:txBody>
          </p:sp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F68D4DC3-5C37-7F16-250F-0AC5D086265B}"/>
                  </a:ext>
                </a:extLst>
              </p:cNvPr>
              <p:cNvSpPr/>
              <p:nvPr/>
            </p:nvSpPr>
            <p:spPr>
              <a:xfrm>
                <a:off x="2001595" y="2423256"/>
                <a:ext cx="762915" cy="227013"/>
              </a:xfrm>
              <a:prstGeom prst="rightArrow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67EBF879-4754-E5FE-67C9-511AA5BA7FBA}"/>
                  </a:ext>
                </a:extLst>
              </p:cNvPr>
              <p:cNvSpPr/>
              <p:nvPr/>
            </p:nvSpPr>
            <p:spPr>
              <a:xfrm>
                <a:off x="4750882" y="2422651"/>
                <a:ext cx="762915" cy="260392"/>
              </a:xfrm>
              <a:prstGeom prst="rightArrow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</p:grp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A7A3888-7906-F9F3-9466-99A7CF81E388}"/>
                </a:ext>
              </a:extLst>
            </p:cNvPr>
            <p:cNvSpPr/>
            <p:nvPr/>
          </p:nvSpPr>
          <p:spPr>
            <a:xfrm>
              <a:off x="2836718" y="1943100"/>
              <a:ext cx="7315938" cy="2261022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22015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5CC5FF6-C911-4883-B5F7-F5F3E29A8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84E2200F-ED39-40A1-A6F7-65A45ED6D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A4DC59FE-95C7-4792-8613-8387631B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084" name="Oval 3083">
              <a:extLst>
                <a:ext uri="{FF2B5EF4-FFF2-40B4-BE49-F238E27FC236}">
                  <a16:creationId xmlns:a16="http://schemas.microsoft.com/office/drawing/2014/main" id="{185A6740-C8AC-4AF4-8DED-DF2AE7C5C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Oval 3084">
              <a:extLst>
                <a:ext uri="{FF2B5EF4-FFF2-40B4-BE49-F238E27FC236}">
                  <a16:creationId xmlns:a16="http://schemas.microsoft.com/office/drawing/2014/main" id="{B0287ED7-11F5-4988-9536-ED300C63D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6" name="Oval 3085">
              <a:extLst>
                <a:ext uri="{FF2B5EF4-FFF2-40B4-BE49-F238E27FC236}">
                  <a16:creationId xmlns:a16="http://schemas.microsoft.com/office/drawing/2014/main" id="{6F435B82-54F0-40A8-98AC-308BBE400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7" name="Oval 3086">
              <a:extLst>
                <a:ext uri="{FF2B5EF4-FFF2-40B4-BE49-F238E27FC236}">
                  <a16:creationId xmlns:a16="http://schemas.microsoft.com/office/drawing/2014/main" id="{63E91545-5C3B-46A8-84FE-3866AC17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88" name="Oval 3087">
              <a:extLst>
                <a:ext uri="{FF2B5EF4-FFF2-40B4-BE49-F238E27FC236}">
                  <a16:creationId xmlns:a16="http://schemas.microsoft.com/office/drawing/2014/main" id="{8E118785-E32F-4098-BA19-715FB4D32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9" name="Oval 3088">
              <a:extLst>
                <a:ext uri="{FF2B5EF4-FFF2-40B4-BE49-F238E27FC236}">
                  <a16:creationId xmlns:a16="http://schemas.microsoft.com/office/drawing/2014/main" id="{218661B7-47E9-4CFA-9D23-D94826CD7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20FE89-AC47-DA74-AB42-11B4230E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938" y="-488610"/>
            <a:ext cx="5895058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From Forecast to Action </a:t>
            </a:r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B163B796-84D7-4069-93D0-7A496A03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93" name="Group 3092">
            <a:extLst>
              <a:ext uri="{FF2B5EF4-FFF2-40B4-BE49-F238E27FC236}">
                <a16:creationId xmlns:a16="http://schemas.microsoft.com/office/drawing/2014/main" id="{87A77F8F-E829-4314-9F44-36169F75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94" name="Straight Connector 3093">
              <a:extLst>
                <a:ext uri="{FF2B5EF4-FFF2-40B4-BE49-F238E27FC236}">
                  <a16:creationId xmlns:a16="http://schemas.microsoft.com/office/drawing/2014/main" id="{E8D18253-A2A5-4168-A077-5A4A9C532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5" name="Straight Connector 3094">
              <a:extLst>
                <a:ext uri="{FF2B5EF4-FFF2-40B4-BE49-F238E27FC236}">
                  <a16:creationId xmlns:a16="http://schemas.microsoft.com/office/drawing/2014/main" id="{6DAC9C54-D328-4591-AE19-1C4E335C7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6" name="Straight Connector 3095">
              <a:extLst>
                <a:ext uri="{FF2B5EF4-FFF2-40B4-BE49-F238E27FC236}">
                  <a16:creationId xmlns:a16="http://schemas.microsoft.com/office/drawing/2014/main" id="{A74A6996-7D92-4A5D-B88C-3B3E56C69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7" name="Straight Connector 3096">
              <a:extLst>
                <a:ext uri="{FF2B5EF4-FFF2-40B4-BE49-F238E27FC236}">
                  <a16:creationId xmlns:a16="http://schemas.microsoft.com/office/drawing/2014/main" id="{D0F18B95-9F0D-423C-9242-0FBEC7276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99" name="Rectangle 3098">
            <a:extLst>
              <a:ext uri="{FF2B5EF4-FFF2-40B4-BE49-F238E27FC236}">
                <a16:creationId xmlns:a16="http://schemas.microsoft.com/office/drawing/2014/main" id="{A4AE5E3E-9489-4D5A-A458-72C3E481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0E88FC08-D56F-45D4-AC54-B89F6469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02" name="Straight Connector 3101">
              <a:extLst>
                <a:ext uri="{FF2B5EF4-FFF2-40B4-BE49-F238E27FC236}">
                  <a16:creationId xmlns:a16="http://schemas.microsoft.com/office/drawing/2014/main" id="{DA9CDF2D-7A78-4571-B1C1-857192D4A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2E46C3A6-A8E2-4FBB-B6F8-FBEA0D905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BD35E17C-3C3F-401E-875C-1BA82BBA5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5" name="Straight Connector 3104">
              <a:extLst>
                <a:ext uri="{FF2B5EF4-FFF2-40B4-BE49-F238E27FC236}">
                  <a16:creationId xmlns:a16="http://schemas.microsoft.com/office/drawing/2014/main" id="{88C01EF9-F43C-4B12-BBF9-A20421C75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9934F91-6F82-60F6-D94D-935859C7B2EF}"/>
              </a:ext>
            </a:extLst>
          </p:cNvPr>
          <p:cNvSpPr txBox="1"/>
          <p:nvPr/>
        </p:nvSpPr>
        <p:spPr>
          <a:xfrm>
            <a:off x="629641" y="3447101"/>
            <a:ext cx="5895058" cy="2682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Identify the most expensive markets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Identify the growth opportunities in the market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Insights that guide smarter investment, planning, development </a:t>
            </a:r>
          </a:p>
        </p:txBody>
      </p:sp>
      <p:pic>
        <p:nvPicPr>
          <p:cNvPr id="3074" name="Picture 2" descr="Prices Silhouette PNG Free, Vector ...">
            <a:extLst>
              <a:ext uri="{FF2B5EF4-FFF2-40B4-BE49-F238E27FC236}">
                <a16:creationId xmlns:a16="http://schemas.microsoft.com/office/drawing/2014/main" id="{DFBC091B-3DA4-BF99-02BB-5B8BEBC21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 bwMode="auto">
          <a:xfrm>
            <a:off x="6795973" y="969893"/>
            <a:ext cx="4684777" cy="4684777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07" name="Group 3106">
            <a:extLst>
              <a:ext uri="{FF2B5EF4-FFF2-40B4-BE49-F238E27FC236}">
                <a16:creationId xmlns:a16="http://schemas.microsoft.com/office/drawing/2014/main" id="{B138BDDD-D054-4F0A-BB1F-9D016848D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3108" name="Straight Connector 3107">
              <a:extLst>
                <a:ext uri="{FF2B5EF4-FFF2-40B4-BE49-F238E27FC236}">
                  <a16:creationId xmlns:a16="http://schemas.microsoft.com/office/drawing/2014/main" id="{3CB9B538-BCFF-41C2-87A8-28853C399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9" name="Straight Connector 3108">
              <a:extLst>
                <a:ext uri="{FF2B5EF4-FFF2-40B4-BE49-F238E27FC236}">
                  <a16:creationId xmlns:a16="http://schemas.microsoft.com/office/drawing/2014/main" id="{DD34C8C8-72AB-40F5-87DE-E7AE196F7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0" name="Straight Connector 3109">
              <a:extLst>
                <a:ext uri="{FF2B5EF4-FFF2-40B4-BE49-F238E27FC236}">
                  <a16:creationId xmlns:a16="http://schemas.microsoft.com/office/drawing/2014/main" id="{9DA1E9C3-A70A-49DD-AD8F-5E768B24F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BC92A81C-B9D6-4A1C-BE78-377104DBE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C563DFC-24CD-8362-99A7-77D2A880D49C}"/>
              </a:ext>
            </a:extLst>
          </p:cNvPr>
          <p:cNvSpPr txBox="1"/>
          <p:nvPr/>
        </p:nvSpPr>
        <p:spPr>
          <a:xfrm>
            <a:off x="5533876" y="5909659"/>
            <a:ext cx="6612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Let’s explore how this model could support investment strategies</a:t>
            </a:r>
          </a:p>
          <a:p>
            <a:pPr algn="ctr"/>
            <a:r>
              <a:rPr lang="en-AU" dirty="0">
                <a:solidFill>
                  <a:schemeClr val="bg1"/>
                </a:solidFill>
              </a:rPr>
              <a:t> and policy planning </a:t>
            </a:r>
          </a:p>
        </p:txBody>
      </p:sp>
    </p:spTree>
    <p:extLst>
      <p:ext uri="{BB962C8B-B14F-4D97-AF65-F5344CB8AC3E}">
        <p14:creationId xmlns:p14="http://schemas.microsoft.com/office/powerpoint/2010/main" val="406876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98</Words>
  <Application>Microsoft Office PowerPoint</Application>
  <PresentationFormat>Widescreen</PresentationFormat>
  <Paragraphs>23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Amasis MT Pro Black</vt:lpstr>
      <vt:lpstr>Aptos</vt:lpstr>
      <vt:lpstr>Aptos Display</vt:lpstr>
      <vt:lpstr>Arial</vt:lpstr>
      <vt:lpstr>Office Theme</vt:lpstr>
      <vt:lpstr>Which city is Australia’s next property hotspot ?</vt:lpstr>
      <vt:lpstr>Forecasting model </vt:lpstr>
      <vt:lpstr>From Forecast to Action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Vimarsha Rathnayake</dc:creator>
  <cp:lastModifiedBy>Vimarsha Rathnayake</cp:lastModifiedBy>
  <cp:revision>8</cp:revision>
  <dcterms:created xsi:type="dcterms:W3CDTF">2025-09-28T12:59:32Z</dcterms:created>
  <dcterms:modified xsi:type="dcterms:W3CDTF">2025-09-30T05:25:22Z</dcterms:modified>
</cp:coreProperties>
</file>